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Bitter" panose="020B0604020202020204" charset="-94"/>
      <p:regular r:id="rId9"/>
    </p:embeddedFont>
  </p:embeddedFontLst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86" y="-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2780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07640" y="2189685"/>
            <a:ext cx="6904234" cy="758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Arduino MPU6050</a:t>
            </a:r>
            <a:r>
              <a:rPr lang="tr-TR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 İle 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tr-TR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Deprem Algılama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023336" y="37518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Fevzi TAŞARSLAN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023335" y="404120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221903005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5115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Proje Özeti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904173"/>
            <a:ext cx="35015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Bu projede, </a:t>
            </a: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Arduino UNO</a:t>
            </a: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ve </a:t>
            </a: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MPU6050 sensörü</a:t>
            </a: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kullanılarak deprem hareketlerinin gerçek zamanlı algılanması hedeflenmiştir.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922758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MPU6050 modülünün </a:t>
            </a:r>
            <a:r>
              <a:rPr lang="en-US" sz="1750" dirty="0">
                <a:solidFill>
                  <a:srgbClr val="000000"/>
                </a:solidFill>
                <a:highlight>
                  <a:srgbClr val="9FA582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ivmeölçer ve jiroskop özellikleri</a:t>
            </a: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kullanılarak yer sarsıntıları hassas bir şekilde tespit edilir.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2904173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Tespit edilen sarsıntılar LED ve buzzer ile görsel ve işitsel uyarı olarak kullanıcıya anında bildirilir.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4559856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Bu sayede </a:t>
            </a: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düşük maliyetli</a:t>
            </a: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ve </a:t>
            </a: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kolay uygulanabilir</a:t>
            </a: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bir deprem erken uyarı sistemi geliştirilmiştir.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2635"/>
            <a:ext cx="117188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ARAŞTIRMA ÖNERİSİNİN BİLİMSEL NİTELİĞİ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245043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1020604" y="247185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2658904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3791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Kapsam ve Önemi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869531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Erişilebilir deprem erken uyarı sistemlerinin geliştirilmesi ve yaygınlaştırılması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245043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Shape 6"/>
          <p:cNvSpPr/>
          <p:nvPr/>
        </p:nvSpPr>
        <p:spPr>
          <a:xfrm>
            <a:off x="5443776" y="247185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0942" y="2658904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33791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Literatürdeki Eksiklik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3869531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Düşük maliyetli, açık kaynak tabanlı sensör sistemlerinin pratik uygulamaları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245043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Shape 10"/>
          <p:cNvSpPr/>
          <p:nvPr/>
        </p:nvSpPr>
        <p:spPr>
          <a:xfrm>
            <a:off x="9866948" y="247185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4114" y="2658904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33791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Çözüm Yaklaşımı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3869531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Arduino platformu ve MPU6050 ile entegre, gerçek zamanlı algılama mekanizması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793790" y="544020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Araştırma sorusu: </a:t>
            </a:r>
            <a:r>
              <a:rPr lang="en-US" sz="17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"MPU6050 sensörünün ivme ve jiroskop verileri, Arduino platformunda düşük maliyetli bir deprem algılama sistemi için yeterli hassasiyeti sağlayabilir mi?"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793790" y="642116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Hipotez:</a:t>
            </a: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Belirli eşik değerleri kullanılarak MPU6050 sensörü, pratik uygulamalarda kullanılabilecek doğrulukta sarsıntı tespiti yapabilir.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01435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Amaç ve Hedefler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793790" y="1788200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93790" y="2054423"/>
            <a:ext cx="7556421" cy="22860"/>
          </a:xfrm>
          <a:prstGeom prst="rect">
            <a:avLst/>
          </a:prstGeom>
          <a:solidFill>
            <a:srgbClr val="9FA58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793790" y="2185154"/>
            <a:ext cx="276463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Gerçek Zamanlı Veri Ölçümü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93790" y="2552938"/>
            <a:ext cx="75564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MPU6050 sensörü ile üç eksenli ivme verilerini milisaniye </a:t>
            </a:r>
            <a:r>
              <a:rPr lang="en-US" sz="1300" dirty="0" err="1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hassasiyetinde</a:t>
            </a: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</a:t>
            </a:r>
            <a:r>
              <a:rPr lang="en-US" sz="1300" dirty="0" err="1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ölçmek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3790" y="3122652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93790" y="3388876"/>
            <a:ext cx="7556421" cy="22860"/>
          </a:xfrm>
          <a:prstGeom prst="rect">
            <a:avLst/>
          </a:prstGeom>
          <a:solidFill>
            <a:srgbClr val="9FA58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793790" y="351960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Akıllı Alarm Sistemi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93790" y="3887391"/>
            <a:ext cx="7556421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Eşik değeri aşıldığında otomatik alarm mekanizması kurmak ve yanlış alarm oranını minimize etmek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3790" y="4729282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93790" y="4995505"/>
            <a:ext cx="7556421" cy="22860"/>
          </a:xfrm>
          <a:prstGeom prst="rect">
            <a:avLst/>
          </a:prstGeom>
          <a:solidFill>
            <a:srgbClr val="9FA58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/>
          <p:nvPr/>
        </p:nvSpPr>
        <p:spPr>
          <a:xfrm>
            <a:off x="793790" y="512623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Enerji Verimliliği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93790" y="5494020"/>
            <a:ext cx="75564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Sistemin düşük güç tüketimiyle kesintisiz çalışmasını sağlamak ve taşınabilir hale getirmek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93790" y="6063734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93790" y="6329958"/>
            <a:ext cx="7556421" cy="22860"/>
          </a:xfrm>
          <a:prstGeom prst="rect">
            <a:avLst/>
          </a:prstGeom>
          <a:solidFill>
            <a:srgbClr val="9FA58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5"/>
          <p:cNvSpPr/>
          <p:nvPr/>
        </p:nvSpPr>
        <p:spPr>
          <a:xfrm>
            <a:off x="793790" y="646068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Ekonomik Çözüm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793790" y="6828473"/>
            <a:ext cx="75564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Toplam maliyeti 600 TL altında tutarak yaygın kullanıma uygun bir sistem geliştirmek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97825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Yöntem ve Uygulama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93790" y="1845945"/>
            <a:ext cx="2723793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Donanım Yapısı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93790" y="2432804"/>
            <a:ext cx="272379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Arduino UNO mikrodenetleyicisi </a:t>
            </a:r>
            <a:r>
              <a:rPr lang="en-US" sz="1600" dirty="0" err="1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üzerine</a:t>
            </a: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 MPU6050 modülü bağlanmıştır.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93790" y="3923348"/>
            <a:ext cx="2723793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Sistem çıkışları: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3790" y="4433768"/>
            <a:ext cx="2723793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Buzzer (işitsel uyarı)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93790" y="4831913"/>
            <a:ext cx="2723793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Kırmızı LED (tehlike)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3790" y="5230058"/>
            <a:ext cx="2723793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Yeşil LED (normal durum)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023122" y="1845945"/>
            <a:ext cx="3062168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Yazılım Mantığı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023122" y="2432804"/>
            <a:ext cx="4334589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MPU6050'nin ivme ve jiroskop verileri </a:t>
            </a:r>
            <a:r>
              <a:rPr lang="en-US" sz="16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Arduino IDE</a:t>
            </a: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üzerinden seri port ile sürekli okunur.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015622" y="3788092"/>
            <a:ext cx="4334589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Ani ivme değişimi</a:t>
            </a: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tespit edilirse → Buzzer aktif + Kırmızı LED yanar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023122" y="4850606"/>
            <a:ext cx="4334589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Sarsıntı sona erdiğinde → Yeşil LED tekrar yanar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93790" y="6337578"/>
            <a:ext cx="7556421" cy="1194197"/>
          </a:xfrm>
          <a:prstGeom prst="roundRect">
            <a:avLst>
              <a:gd name="adj" fmla="val 2564"/>
            </a:avLst>
          </a:prstGeom>
          <a:solidFill>
            <a:srgbClr val="2A2C2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863" y="6642616"/>
            <a:ext cx="255151" cy="20407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57087" y="6592610"/>
            <a:ext cx="6689050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Kodlama Arduino IDE ortamında C/C++ diliyle yapılmış olup, açık kaynak kütüphaneler kullanılmıştır.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6384" y="468511"/>
            <a:ext cx="3136940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Malzeme Listesi ve Bütçe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596384" y="1036082"/>
            <a:ext cx="13437632" cy="668536"/>
          </a:xfrm>
          <a:prstGeom prst="roundRect">
            <a:avLst>
              <a:gd name="adj" fmla="val 2485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611624" y="1051322"/>
            <a:ext cx="443032" cy="638056"/>
          </a:xfrm>
          <a:prstGeom prst="rect">
            <a:avLst/>
          </a:prstGeom>
          <a:solidFill>
            <a:srgbClr val="3B3C3E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0094" y="1287185"/>
            <a:ext cx="166092" cy="1660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5384" y="1162050"/>
            <a:ext cx="1384459" cy="172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Arduino Uno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65384" y="1401485"/>
            <a:ext cx="12742664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250 TL</a:t>
            </a: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- Ana mikrodenetleyici kartı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96384" y="1815346"/>
            <a:ext cx="13437632" cy="668536"/>
          </a:xfrm>
          <a:prstGeom prst="roundRect">
            <a:avLst>
              <a:gd name="adj" fmla="val 2485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6"/>
          <p:cNvSpPr/>
          <p:nvPr/>
        </p:nvSpPr>
        <p:spPr>
          <a:xfrm>
            <a:off x="611624" y="1830586"/>
            <a:ext cx="443032" cy="638056"/>
          </a:xfrm>
          <a:prstGeom prst="rect">
            <a:avLst/>
          </a:prstGeom>
          <a:solidFill>
            <a:srgbClr val="3B3C3E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0094" y="2066449"/>
            <a:ext cx="166092" cy="1660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65384" y="1941314"/>
            <a:ext cx="1384459" cy="172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MPU6050 Modülü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165384" y="2180749"/>
            <a:ext cx="12742664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150 TL</a:t>
            </a: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- 6 eksenli ivme ve jiroskop sensörü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596384" y="2594610"/>
            <a:ext cx="13437632" cy="668536"/>
          </a:xfrm>
          <a:prstGeom prst="roundRect">
            <a:avLst>
              <a:gd name="adj" fmla="val 2485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0"/>
          <p:cNvSpPr/>
          <p:nvPr/>
        </p:nvSpPr>
        <p:spPr>
          <a:xfrm>
            <a:off x="611624" y="2609850"/>
            <a:ext cx="443032" cy="638056"/>
          </a:xfrm>
          <a:prstGeom prst="rect">
            <a:avLst/>
          </a:prstGeom>
          <a:solidFill>
            <a:srgbClr val="3B3C3E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0094" y="2845713"/>
            <a:ext cx="166092" cy="1660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65384" y="2720578"/>
            <a:ext cx="1384459" cy="172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Breadboard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1165384" y="2960013"/>
            <a:ext cx="12742664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50 TL</a:t>
            </a: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- Prototipleme kartı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596384" y="3373874"/>
            <a:ext cx="13437632" cy="668536"/>
          </a:xfrm>
          <a:prstGeom prst="roundRect">
            <a:avLst>
              <a:gd name="adj" fmla="val 2485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4"/>
          <p:cNvSpPr/>
          <p:nvPr/>
        </p:nvSpPr>
        <p:spPr>
          <a:xfrm>
            <a:off x="611624" y="3389114"/>
            <a:ext cx="443032" cy="638056"/>
          </a:xfrm>
          <a:prstGeom prst="rect">
            <a:avLst/>
          </a:prstGeom>
          <a:solidFill>
            <a:srgbClr val="3B3C3E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0094" y="3624977"/>
            <a:ext cx="166092" cy="1660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65384" y="3499842"/>
            <a:ext cx="1464588" cy="172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LED'ler (Kırmızı &amp; Yeşil)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165384" y="3739277"/>
            <a:ext cx="12742664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10 TL</a:t>
            </a: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- Görsel durum göstergeleri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596384" y="4153138"/>
            <a:ext cx="13437632" cy="668536"/>
          </a:xfrm>
          <a:prstGeom prst="roundRect">
            <a:avLst>
              <a:gd name="adj" fmla="val 2485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18"/>
          <p:cNvSpPr/>
          <p:nvPr/>
        </p:nvSpPr>
        <p:spPr>
          <a:xfrm>
            <a:off x="611624" y="4168378"/>
            <a:ext cx="443032" cy="638056"/>
          </a:xfrm>
          <a:prstGeom prst="rect">
            <a:avLst/>
          </a:prstGeom>
          <a:solidFill>
            <a:srgbClr val="3B3C3E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0094" y="4404241"/>
            <a:ext cx="166092" cy="16609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65384" y="4279106"/>
            <a:ext cx="1384459" cy="172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220Ω Direnç (2 adet)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65384" y="4518541"/>
            <a:ext cx="12742664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5 TL</a:t>
            </a: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- LED koruma dirençleri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596384" y="4932402"/>
            <a:ext cx="13437632" cy="668536"/>
          </a:xfrm>
          <a:prstGeom prst="roundRect">
            <a:avLst>
              <a:gd name="adj" fmla="val 2485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2"/>
          <p:cNvSpPr/>
          <p:nvPr/>
        </p:nvSpPr>
        <p:spPr>
          <a:xfrm>
            <a:off x="611624" y="4947642"/>
            <a:ext cx="443032" cy="638056"/>
          </a:xfrm>
          <a:prstGeom prst="rect">
            <a:avLst/>
          </a:prstGeom>
          <a:solidFill>
            <a:srgbClr val="3B3C3E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50094" y="5183505"/>
            <a:ext cx="166092" cy="16609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165384" y="5058370"/>
            <a:ext cx="1384459" cy="172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Buzzer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1165384" y="5297805"/>
            <a:ext cx="12742664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30 TL</a:t>
            </a: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- Sesli alarm birimi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596384" y="5711666"/>
            <a:ext cx="13437632" cy="668536"/>
          </a:xfrm>
          <a:prstGeom prst="roundRect">
            <a:avLst>
              <a:gd name="adj" fmla="val 2485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Shape 26"/>
          <p:cNvSpPr/>
          <p:nvPr/>
        </p:nvSpPr>
        <p:spPr>
          <a:xfrm>
            <a:off x="611624" y="5726906"/>
            <a:ext cx="443032" cy="638056"/>
          </a:xfrm>
          <a:prstGeom prst="rect">
            <a:avLst/>
          </a:prstGeom>
          <a:solidFill>
            <a:srgbClr val="3B3C3E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50094" y="5962769"/>
            <a:ext cx="166092" cy="16609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165384" y="5837634"/>
            <a:ext cx="1397437" cy="172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Jumper Kablo (8 adet)</a:t>
            </a:r>
            <a:endParaRPr lang="en-US" sz="1050" dirty="0"/>
          </a:p>
        </p:txBody>
      </p:sp>
      <p:sp>
        <p:nvSpPr>
          <p:cNvPr id="37" name="Text 28"/>
          <p:cNvSpPr/>
          <p:nvPr/>
        </p:nvSpPr>
        <p:spPr>
          <a:xfrm>
            <a:off x="1165384" y="6077069"/>
            <a:ext cx="12742664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 TL</a:t>
            </a: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- Bağlantı kabloları</a:t>
            </a:r>
            <a:endParaRPr lang="en-US" sz="850" dirty="0"/>
          </a:p>
        </p:txBody>
      </p:sp>
      <p:sp>
        <p:nvSpPr>
          <p:cNvPr id="38" name="Shape 29"/>
          <p:cNvSpPr/>
          <p:nvPr/>
        </p:nvSpPr>
        <p:spPr>
          <a:xfrm>
            <a:off x="596384" y="6560055"/>
            <a:ext cx="13437632" cy="21431"/>
          </a:xfrm>
          <a:prstGeom prst="rect">
            <a:avLst/>
          </a:prstGeom>
          <a:solidFill>
            <a:srgbClr val="C2C4B5">
              <a:alpha val="5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9" name="Text 30"/>
          <p:cNvSpPr/>
          <p:nvPr/>
        </p:nvSpPr>
        <p:spPr>
          <a:xfrm>
            <a:off x="596384" y="6747510"/>
            <a:ext cx="5538073" cy="692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9FA582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515 TL</a:t>
            </a:r>
            <a:endParaRPr lang="en-US" sz="4350" dirty="0"/>
          </a:p>
        </p:txBody>
      </p:sp>
      <p:sp>
        <p:nvSpPr>
          <p:cNvPr id="40" name="Text 31"/>
          <p:cNvSpPr/>
          <p:nvPr/>
        </p:nvSpPr>
        <p:spPr>
          <a:xfrm>
            <a:off x="596384" y="7605713"/>
            <a:ext cx="1343763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Toplam Tahmini Bütçe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384</Words>
  <Application>Microsoft Office PowerPoint</Application>
  <PresentationFormat>Özel</PresentationFormat>
  <Paragraphs>66</Paragraphs>
  <Slides>6</Slides>
  <Notes>6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1" baseType="lpstr">
      <vt:lpstr>Bitter</vt:lpstr>
      <vt:lpstr>Arial</vt:lpstr>
      <vt:lpstr>Outfit Light</vt:lpstr>
      <vt:lpstr>Outfit Bold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221903005</cp:lastModifiedBy>
  <cp:revision>5</cp:revision>
  <dcterms:created xsi:type="dcterms:W3CDTF">2025-11-07T20:15:44Z</dcterms:created>
  <dcterms:modified xsi:type="dcterms:W3CDTF">2025-11-08T14:40:29Z</dcterms:modified>
</cp:coreProperties>
</file>